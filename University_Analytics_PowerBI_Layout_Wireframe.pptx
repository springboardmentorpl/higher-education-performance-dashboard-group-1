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B2B4B"/>
                </a:solidFill>
                <a:latin typeface="Aptos"/>
              </a:rPr>
              <a:t>Power BI Dashboard – Layout &amp; Navigation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38494"/>
            <a:ext cx="706629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 dirty="0">
                <a:solidFill>
                  <a:srgbClr val="6E7682"/>
                </a:solidFill>
                <a:latin typeface="Aptos"/>
              </a:rPr>
              <a:t> PPT to design the project before building the actual Power BI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108813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5029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B2B4B"/>
                </a:solidFill>
                <a:latin typeface="Aptos"/>
              </a:rPr>
              <a:t>Project concept: University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784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282D37"/>
                </a:solidFill>
                <a:latin typeface="Aptos"/>
              </a:rPr>
              <a:t>4 report pages • 20–24 visuals • common filters • page navigation • drill-through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3876BE"/>
                </a:solidFill>
                <a:latin typeface="Aptos"/>
              </a:rPr>
              <a:t>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07408"/>
            <a:ext cx="8961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82D37"/>
                </a:solidFill>
                <a:latin typeface="Aptos"/>
              </a:rPr>
              <a:t>01 University Overview    02 Research Analytics    03 Student Analytics    04 Country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B2B4B"/>
                </a:solidFill>
                <a:latin typeface="Aptos"/>
              </a:rPr>
              <a:t>1. Report Structure &amp; Navigation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094" y="941046"/>
            <a:ext cx="10881360" cy="594360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5820" y="1117583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UNIVERSITY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9019" y="114781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3540" y="1117583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9460" y="1117583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46820" y="1117583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Countries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099" y="2667983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8438" y="2684699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 dirty="0">
                <a:solidFill>
                  <a:srgbClr val="3876BE"/>
                </a:solidFill>
                <a:latin typeface="Apto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079955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282D37"/>
                </a:solidFill>
                <a:latin typeface="Aptos"/>
              </a:rPr>
              <a:t>University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0960" y="294894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6E7682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15866" y="2677815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26181" y="2640355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 dirty="0">
                <a:solidFill>
                  <a:srgbClr val="3876BE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092933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282D37"/>
                </a:solidFill>
                <a:latin typeface="Aptos"/>
              </a:rPr>
              <a:t>Research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8172" y="294997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6E7682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77940" y="2569464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2578608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 dirty="0">
                <a:solidFill>
                  <a:srgbClr val="3876BE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040380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282D37"/>
                </a:solidFill>
                <a:latin typeface="Aptos"/>
              </a:rPr>
              <a:t>Student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39" y="289068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6E7682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19" y="2531315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13164" y="2552159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 dirty="0">
                <a:solidFill>
                  <a:srgbClr val="3876BE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1399" y="3002772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282D37"/>
                </a:solidFill>
                <a:latin typeface="Aptos"/>
              </a:rPr>
              <a:t>Country 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977639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2B4B"/>
                </a:solidFill>
                <a:latin typeface="Aptos"/>
              </a:rPr>
              <a:t>Global controls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43484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" y="4572000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dirty="0">
                <a:solidFill>
                  <a:srgbClr val="282D37"/>
                </a:solidFill>
                <a:latin typeface="Aptos"/>
              </a:rPr>
              <a:t>Year  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40" y="443484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85032" y="4572000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282D37"/>
                </a:solidFill>
                <a:latin typeface="Aptos"/>
              </a:rPr>
              <a:t>Country  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43484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82512" y="4572000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282D37"/>
                </a:solidFill>
                <a:latin typeface="Aptos"/>
              </a:rPr>
              <a:t>University Type  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443484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79992" y="4572000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282D37"/>
                </a:solidFill>
                <a:latin typeface="Aptos"/>
              </a:rPr>
              <a:t>Research Area  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61" y="5349240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 dirty="0">
                <a:solidFill>
                  <a:srgbClr val="1B2B4B"/>
                </a:solidFill>
                <a:latin typeface="Aptos"/>
              </a:rPr>
              <a:t>Recommended navigation buttons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19" y="5349240"/>
            <a:ext cx="7132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282D37"/>
                </a:solidFill>
                <a:latin typeface="Aptos"/>
              </a:rPr>
              <a:t>Home  •  Overview  •  Research  •  Students  •  Countries  •  Reset Filters  •  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University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210312"/>
            <a:ext cx="1325880" cy="310896"/>
          </a:xfrm>
          <a:prstGeom prst="roundRect">
            <a:avLst/>
          </a:prstGeom>
          <a:solidFill>
            <a:srgbClr val="3876BE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94760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76088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7416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57416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8744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Countries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210312"/>
            <a:ext cx="6858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210312"/>
            <a:ext cx="685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B2B4B"/>
                </a:solidFill>
                <a:latin typeface="Aptos"/>
              </a:rPr>
              <a:t>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01498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82D37"/>
                </a:solidFill>
                <a:latin typeface="Aptos"/>
              </a:rPr>
              <a:t>Year 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101498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82D37"/>
                </a:solidFill>
                <a:latin typeface="Aptos"/>
              </a:rPr>
              <a:t>Country 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1498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82D37"/>
                </a:solidFill>
                <a:latin typeface="Aptos"/>
              </a:rPr>
              <a:t>University Type 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1014984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3876BE"/>
                </a:solidFill>
                <a:latin typeface="Aptos"/>
              </a:rPr>
              <a:t>Reset Filters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Total Universities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7832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92424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Students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44184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8776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Research Papers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0536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25128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Avg. Ranking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2542032"/>
            <a:ext cx="365760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2633472"/>
            <a:ext cx="3383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282D37"/>
                </a:solidFill>
                <a:latin typeface="Aptos"/>
              </a:rPr>
              <a:t>Universities by Country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10896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876BE"/>
                </a:solidFill>
                <a:latin typeface="Aptos"/>
              </a:rPr>
              <a:t>Filled 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685031"/>
            <a:ext cx="33832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E7682"/>
                </a:solidFill>
                <a:latin typeface="Aptos"/>
              </a:rPr>
              <a:t>Use tooltip + data labels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24528" y="2542032"/>
            <a:ext cx="365760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61688" y="2633472"/>
            <a:ext cx="3383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282D37"/>
                </a:solidFill>
                <a:latin typeface="Aptos"/>
              </a:rPr>
              <a:t>University Type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310896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876BE"/>
                </a:solidFill>
                <a:latin typeface="Aptos"/>
              </a:rPr>
              <a:t>Donut Chart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1688" y="3685031"/>
            <a:ext cx="33832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E7682"/>
                </a:solidFill>
                <a:latin typeface="Aptos"/>
              </a:rPr>
              <a:t>Use tooltip + data labels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7575" y="2542032"/>
            <a:ext cx="36118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74736" y="2633472"/>
            <a:ext cx="3337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282D37"/>
                </a:solidFill>
                <a:latin typeface="Aptos"/>
              </a:rPr>
              <a:t>Top Universities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4736" y="3108960"/>
            <a:ext cx="3337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876BE"/>
                </a:solidFill>
                <a:latin typeface="Aptos"/>
              </a:rPr>
              <a:t>Bar Chart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74736" y="3685031"/>
            <a:ext cx="3337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E7682"/>
                </a:solidFill>
                <a:latin typeface="Aptos"/>
              </a:rPr>
              <a:t>Use tooltip + data labels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224528"/>
            <a:ext cx="7315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4370832"/>
            <a:ext cx="6949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82D37"/>
                </a:solidFill>
                <a:latin typeface="Aptos"/>
              </a:rPr>
              <a:t>Main question: What does the university ecosystem look like?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892040"/>
            <a:ext cx="69494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59891"/>
                </a:solidFill>
                <a:latin typeface="Aptos"/>
              </a:rPr>
              <a:t>Trend / ranking / geography should be visible within 5 seconds.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596128"/>
            <a:ext cx="6949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E7682"/>
                </a:solidFill>
                <a:latin typeface="Aptos"/>
              </a:rPr>
              <a:t>Drill-through / cross-filter area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09560" y="4224528"/>
            <a:ext cx="386791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92440" y="4370832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82D37"/>
                </a:solidFill>
                <a:latin typeface="Aptos"/>
              </a:rPr>
              <a:t>Details / ranking table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4828032"/>
            <a:ext cx="3474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876BE"/>
                </a:solidFill>
                <a:latin typeface="Aptos"/>
              </a:rPr>
              <a:t>Top 5 • Bottom 5 • Rank • Change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5532120"/>
            <a:ext cx="3474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E7682"/>
                </a:solidFill>
                <a:latin typeface="Aptos"/>
              </a:rPr>
              <a:t>Click row → drill-through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Research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94760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210312"/>
            <a:ext cx="1325880" cy="310896"/>
          </a:xfrm>
          <a:prstGeom prst="roundRect">
            <a:avLst/>
          </a:prstGeom>
          <a:solidFill>
            <a:srgbClr val="3876BE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76088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7416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57416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8744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Countries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210312"/>
            <a:ext cx="6858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210312"/>
            <a:ext cx="685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B2B4B"/>
                </a:solidFill>
                <a:latin typeface="Aptos"/>
              </a:rPr>
              <a:t>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01498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82D37"/>
                </a:solidFill>
                <a:latin typeface="Aptos"/>
              </a:rPr>
              <a:t>Year 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101498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82D37"/>
                </a:solidFill>
                <a:latin typeface="Aptos"/>
              </a:rPr>
              <a:t>Country 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1498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82D37"/>
                </a:solidFill>
                <a:latin typeface="Aptos"/>
              </a:rPr>
              <a:t>University Type 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1014984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3876BE"/>
                </a:solidFill>
                <a:latin typeface="Aptos"/>
              </a:rPr>
              <a:t>Reset Filters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1014984"/>
            <a:ext cx="2148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E7682"/>
                </a:solidFill>
                <a:latin typeface="Aptos"/>
              </a:rPr>
              <a:t>Last refresh: Today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Research Papers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1901952"/>
            <a:ext cx="23225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2B4B"/>
                </a:solidFill>
                <a:latin typeface="Aptos"/>
              </a:rPr>
              <a:t>85K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7832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92424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Citations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2424" y="1901952"/>
            <a:ext cx="23225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2B4B"/>
                </a:solidFill>
                <a:latin typeface="Aptos"/>
              </a:rPr>
              <a:t>1.8M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44184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8776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Avg. Citations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1901952"/>
            <a:ext cx="23225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2B4B"/>
                </a:solidFill>
                <a:latin typeface="Aptos"/>
              </a:rPr>
              <a:t>21.2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0536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25128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Research Funding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5128" y="1901952"/>
            <a:ext cx="23225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2B4B"/>
                </a:solidFill>
                <a:latin typeface="Aptos"/>
              </a:rPr>
              <a:t>$4.6B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2542032"/>
            <a:ext cx="365760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2633472"/>
            <a:ext cx="3383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282D37"/>
                </a:solidFill>
                <a:latin typeface="Aptos"/>
              </a:rPr>
              <a:t>Research Trend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10896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876BE"/>
                </a:solidFill>
                <a:latin typeface="Aptos"/>
              </a:rPr>
              <a:t>Line Chart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685031"/>
            <a:ext cx="33832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E7682"/>
                </a:solidFill>
                <a:latin typeface="Aptos"/>
              </a:rPr>
              <a:t>Use tooltip + data labels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24528" y="2542032"/>
            <a:ext cx="365760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61688" y="2633472"/>
            <a:ext cx="3383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282D37"/>
                </a:solidFill>
                <a:latin typeface="Aptos"/>
              </a:rPr>
              <a:t>Papers by Field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310896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876BE"/>
                </a:solidFill>
                <a:latin typeface="Aptos"/>
              </a:rPr>
              <a:t>Treemap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1688" y="3685031"/>
            <a:ext cx="33832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E7682"/>
                </a:solidFill>
                <a:latin typeface="Aptos"/>
              </a:rPr>
              <a:t>Use tooltip + data labels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7575" y="2542032"/>
            <a:ext cx="36118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74736" y="2633472"/>
            <a:ext cx="3337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282D37"/>
                </a:solidFill>
                <a:latin typeface="Aptos"/>
              </a:rPr>
              <a:t>Top Research Universities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4736" y="3108960"/>
            <a:ext cx="3337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876BE"/>
                </a:solidFill>
                <a:latin typeface="Aptos"/>
              </a:rPr>
              <a:t>Bar Chart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74736" y="3685031"/>
            <a:ext cx="3337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E7682"/>
                </a:solidFill>
                <a:latin typeface="Aptos"/>
              </a:rPr>
              <a:t>Use tooltip + data labels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224528"/>
            <a:ext cx="7315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4370832"/>
            <a:ext cx="6949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82D37"/>
                </a:solidFill>
                <a:latin typeface="Aptos"/>
              </a:rPr>
              <a:t>Main question: Where is research strongest and how is it changing?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892040"/>
            <a:ext cx="69494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59891"/>
                </a:solidFill>
                <a:latin typeface="Aptos"/>
              </a:rPr>
              <a:t>Add a research-area slicer and use drill-through for university details.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596128"/>
            <a:ext cx="6949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E7682"/>
                </a:solidFill>
                <a:latin typeface="Aptos"/>
              </a:rPr>
              <a:t>Drill-through / cross-filter area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09560" y="4224528"/>
            <a:ext cx="386791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92440" y="4370832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82D37"/>
                </a:solidFill>
                <a:latin typeface="Aptos"/>
              </a:rPr>
              <a:t>Details / ranking table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4828032"/>
            <a:ext cx="3474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876BE"/>
                </a:solidFill>
                <a:latin typeface="Aptos"/>
              </a:rPr>
              <a:t>Top 5 • Bottom 5 • Rank • Change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5532120"/>
            <a:ext cx="3474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E7682"/>
                </a:solidFill>
                <a:latin typeface="Aptos"/>
              </a:rPr>
              <a:t>Click row → drill-through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Student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94760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76088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7416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57416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8744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Countries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210312"/>
            <a:ext cx="6858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210312"/>
            <a:ext cx="685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B2B4B"/>
                </a:solidFill>
                <a:latin typeface="Aptos"/>
              </a:rPr>
              <a:t>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01498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82D37"/>
                </a:solidFill>
                <a:latin typeface="Aptos"/>
              </a:rPr>
              <a:t>Year 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101498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82D37"/>
                </a:solidFill>
                <a:latin typeface="Aptos"/>
              </a:rPr>
              <a:t>Country 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1498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82D37"/>
                </a:solidFill>
                <a:latin typeface="Aptos"/>
              </a:rPr>
              <a:t>University Type 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1014984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3876BE"/>
                </a:solidFill>
                <a:latin typeface="Aptos"/>
              </a:rPr>
              <a:t>Reset Filters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1014984"/>
            <a:ext cx="2148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E7682"/>
                </a:solidFill>
                <a:latin typeface="Aptos"/>
              </a:rPr>
              <a:t>Last refresh: Today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Total Students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1901952"/>
            <a:ext cx="23225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2B4B"/>
                </a:solidFill>
                <a:latin typeface="Aptos"/>
              </a:rPr>
              <a:t>2.4M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7832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92424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International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2424" y="1901952"/>
            <a:ext cx="23225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2B4B"/>
                </a:solidFill>
                <a:latin typeface="Aptos"/>
              </a:rPr>
              <a:t>18%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44184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8776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Avg. Enrollment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1901952"/>
            <a:ext cx="23225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2B4B"/>
                </a:solidFill>
                <a:latin typeface="Aptos"/>
              </a:rPr>
              <a:t>6.4%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0536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25128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Graduation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5128" y="1901952"/>
            <a:ext cx="23225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2B4B"/>
                </a:solidFill>
                <a:latin typeface="Aptos"/>
              </a:rPr>
              <a:t>82%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2542032"/>
            <a:ext cx="365760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2633472"/>
            <a:ext cx="3383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282D37"/>
                </a:solidFill>
                <a:latin typeface="Aptos"/>
              </a:rPr>
              <a:t>Enrollment Trend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10896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876BE"/>
                </a:solidFill>
                <a:latin typeface="Aptos"/>
              </a:rPr>
              <a:t>Line Chart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685031"/>
            <a:ext cx="33832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E7682"/>
                </a:solidFill>
                <a:latin typeface="Aptos"/>
              </a:rPr>
              <a:t>Use tooltip + data labels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24528" y="2542032"/>
            <a:ext cx="365760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61688" y="2633472"/>
            <a:ext cx="3383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282D37"/>
                </a:solidFill>
                <a:latin typeface="Aptos"/>
              </a:rPr>
              <a:t>Students by Region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310896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876BE"/>
                </a:solidFill>
                <a:latin typeface="Aptos"/>
              </a:rPr>
              <a:t>Stacked Bar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1688" y="3685031"/>
            <a:ext cx="33832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E7682"/>
                </a:solidFill>
                <a:latin typeface="Aptos"/>
              </a:rPr>
              <a:t>Use tooltip + data labels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7575" y="2542032"/>
            <a:ext cx="36118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74736" y="2633472"/>
            <a:ext cx="3337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282D37"/>
                </a:solidFill>
                <a:latin typeface="Aptos"/>
              </a:rPr>
              <a:t>Student Mix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4736" y="3108960"/>
            <a:ext cx="3337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876BE"/>
                </a:solidFill>
                <a:latin typeface="Aptos"/>
              </a:rPr>
              <a:t>Donut Chart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74736" y="3685031"/>
            <a:ext cx="3337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E7682"/>
                </a:solidFill>
                <a:latin typeface="Aptos"/>
              </a:rPr>
              <a:t>Use tooltip + data labels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224528"/>
            <a:ext cx="7315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4370832"/>
            <a:ext cx="6949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82D37"/>
                </a:solidFill>
                <a:latin typeface="Aptos"/>
              </a:rPr>
              <a:t>Main question: What are the student population and enrollment patterns?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892040"/>
            <a:ext cx="69494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59891"/>
                </a:solidFill>
                <a:latin typeface="Aptos"/>
              </a:rPr>
              <a:t>Use slicers for year, country and university type; show comparisons clearly.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596128"/>
            <a:ext cx="6949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E7682"/>
                </a:solidFill>
                <a:latin typeface="Aptos"/>
              </a:rPr>
              <a:t>Drill-through / cross-filter area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09560" y="4224528"/>
            <a:ext cx="386791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92440" y="4370832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82D37"/>
                </a:solidFill>
                <a:latin typeface="Aptos"/>
              </a:rPr>
              <a:t>Details / ranking table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4828032"/>
            <a:ext cx="3474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876BE"/>
                </a:solidFill>
                <a:latin typeface="Aptos"/>
              </a:rPr>
              <a:t>Top 5 • Bottom 5 • Rank • Change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5532120"/>
            <a:ext cx="3474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E7682"/>
                </a:solidFill>
                <a:latin typeface="Aptos"/>
              </a:rPr>
              <a:t>Click row → drill-through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Country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94760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76088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7416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57416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8744" y="210312"/>
            <a:ext cx="1325880" cy="310896"/>
          </a:xfrm>
          <a:prstGeom prst="round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219456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Countries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210312"/>
            <a:ext cx="6858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210312"/>
            <a:ext cx="685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B2B4B"/>
                </a:solidFill>
                <a:latin typeface="Aptos"/>
              </a:rPr>
              <a:t>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01498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82D37"/>
                </a:solidFill>
                <a:latin typeface="Aptos"/>
              </a:rPr>
              <a:t>Year 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101498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82D37"/>
                </a:solidFill>
                <a:latin typeface="Aptos"/>
              </a:rPr>
              <a:t>Country 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1498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82D37"/>
                </a:solidFill>
                <a:latin typeface="Aptos"/>
              </a:rPr>
              <a:t>University Type 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941832"/>
            <a:ext cx="1600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1014984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3876BE"/>
                </a:solidFill>
                <a:latin typeface="Aptos"/>
              </a:rPr>
              <a:t>Reset Filters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1014984"/>
            <a:ext cx="2148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E7682"/>
                </a:solidFill>
                <a:latin typeface="Aptos"/>
              </a:rPr>
              <a:t>Last refresh: Today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Countries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1901952"/>
            <a:ext cx="23225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2B4B"/>
                </a:solidFill>
                <a:latin typeface="Aptos"/>
              </a:rPr>
              <a:t>72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7832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92424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Universities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2424" y="1901952"/>
            <a:ext cx="23225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2B4B"/>
                </a:solidFill>
                <a:latin typeface="Aptos"/>
              </a:rPr>
              <a:t>1,250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44184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8776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Avg. Ranking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1901952"/>
            <a:ext cx="23225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2B4B"/>
                </a:solidFill>
                <a:latin typeface="Aptos"/>
              </a:rPr>
              <a:t>#142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0536" y="1572768"/>
            <a:ext cx="2651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25128" y="1664208"/>
            <a:ext cx="23225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E7682"/>
                </a:solidFill>
                <a:latin typeface="Aptos"/>
              </a:rPr>
              <a:t>Research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5128" y="1901952"/>
            <a:ext cx="23225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2B4B"/>
                </a:solidFill>
                <a:latin typeface="Aptos"/>
              </a:rPr>
              <a:t>85K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2542032"/>
            <a:ext cx="365760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2633472"/>
            <a:ext cx="3383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282D37"/>
                </a:solidFill>
                <a:latin typeface="Aptos"/>
              </a:rPr>
              <a:t>Country Ranking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10896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876BE"/>
                </a:solidFill>
                <a:latin typeface="Aptos"/>
              </a:rPr>
              <a:t>Column Chart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685031"/>
            <a:ext cx="33832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E7682"/>
                </a:solidFill>
                <a:latin typeface="Aptos"/>
              </a:rPr>
              <a:t>Use tooltip + data labels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24528" y="2542032"/>
            <a:ext cx="365760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61688" y="2633472"/>
            <a:ext cx="3383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282D37"/>
                </a:solidFill>
                <a:latin typeface="Aptos"/>
              </a:rPr>
              <a:t>Research vs Students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310896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876BE"/>
                </a:solidFill>
                <a:latin typeface="Aptos"/>
              </a:rPr>
              <a:t>Scatter Plot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1688" y="3685031"/>
            <a:ext cx="33832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E7682"/>
                </a:solidFill>
                <a:latin typeface="Aptos"/>
              </a:rPr>
              <a:t>Use tooltip + data labels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7575" y="2542032"/>
            <a:ext cx="36118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74736" y="2633472"/>
            <a:ext cx="3337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282D37"/>
                </a:solidFill>
                <a:latin typeface="Aptos"/>
              </a:rPr>
              <a:t>Country Share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4736" y="3108960"/>
            <a:ext cx="3337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876BE"/>
                </a:solidFill>
                <a:latin typeface="Aptos"/>
              </a:rPr>
              <a:t>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74736" y="3685031"/>
            <a:ext cx="3337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E7682"/>
                </a:solidFill>
                <a:latin typeface="Aptos"/>
              </a:rPr>
              <a:t>Use tooltip + data labels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224528"/>
            <a:ext cx="7315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4370832"/>
            <a:ext cx="6949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82D37"/>
                </a:solidFill>
                <a:latin typeface="Aptos"/>
              </a:rPr>
              <a:t>Main question: Which countries perform better across key indicators?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892040"/>
            <a:ext cx="69494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359891"/>
                </a:solidFill>
                <a:latin typeface="Aptos"/>
              </a:rPr>
              <a:t>Allow country selection and compare 2–4 countries side by side.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596128"/>
            <a:ext cx="6949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E7682"/>
                </a:solidFill>
                <a:latin typeface="Aptos"/>
              </a:rPr>
              <a:t>Drill-through / cross-filter area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09560" y="4224528"/>
            <a:ext cx="386791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92440" y="4370832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82D37"/>
                </a:solidFill>
                <a:latin typeface="Aptos"/>
              </a:rPr>
              <a:t>Details / ranking table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4828032"/>
            <a:ext cx="3474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876BE"/>
                </a:solidFill>
                <a:latin typeface="Aptos"/>
              </a:rPr>
              <a:t>Top 5 • Bottom 5 • Rank • Change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5532120"/>
            <a:ext cx="3474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E7682"/>
                </a:solidFill>
                <a:latin typeface="Aptos"/>
              </a:rPr>
              <a:t>Click row → drill-through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6566"/>
            <a:ext cx="12191695" cy="914400"/>
          </a:xfrm>
          <a:prstGeom prst="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bg1"/>
                </a:solidFill>
                <a:latin typeface="Aptos"/>
              </a:rPr>
              <a:t>       2. Visual &amp; Interaction Inventory</a:t>
            </a:r>
          </a:p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95936" y="1049368"/>
            <a:ext cx="184731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endParaRPr sz="30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5758" y="881352"/>
            <a:ext cx="10789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 dirty="0">
                <a:solidFill>
                  <a:srgbClr val="6E7682"/>
                </a:solidFill>
                <a:latin typeface="Aptos"/>
              </a:rPr>
              <a:t>Use this as the checklist while building the actual Power BI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1683" y="1770814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1720" y="2073217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B2B4B"/>
                </a:solidFill>
                <a:latin typeface="Aptos"/>
              </a:rPr>
              <a:t>KPI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9092" y="2080575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3876BE"/>
                </a:solidFill>
                <a:latin typeface="Aptos"/>
              </a:rPr>
              <a:t>16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968" y="2010847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 dirty="0">
                <a:solidFill>
                  <a:srgbClr val="282D37"/>
                </a:solidFill>
                <a:latin typeface="Aptos"/>
              </a:rPr>
              <a:t>4 per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655" y="1725433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5405" y="1957551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B2B4B"/>
                </a:solidFill>
                <a:latin typeface="Aptos"/>
              </a:rPr>
              <a:t>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4165" y="1915308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3876BE"/>
                </a:solidFill>
                <a:latin typeface="Aptos"/>
              </a:rPr>
              <a:t>12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585" y="1860257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 dirty="0">
                <a:solidFill>
                  <a:srgbClr val="282D37"/>
                </a:solidFill>
                <a:latin typeface="Aptos"/>
              </a:rPr>
              <a:t>3 per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802" y="2809860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425" y="3198777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B2B4B"/>
                </a:solidFill>
                <a:latin typeface="Aptos"/>
              </a:rPr>
              <a:t>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9092" y="3202550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3876BE"/>
                </a:solidFill>
                <a:latin typeface="Aptos"/>
              </a:rPr>
              <a:t>4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0297" y="3072081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 dirty="0">
                <a:solidFill>
                  <a:srgbClr val="282D37"/>
                </a:solidFill>
                <a:latin typeface="Aptos"/>
              </a:rPr>
              <a:t>1 per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7697" y="2774749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5405" y="2910371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B2B4B"/>
                </a:solidFill>
                <a:latin typeface="Aptos"/>
              </a:rPr>
              <a:t>Slicers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8455" y="2920695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3876BE"/>
                </a:solidFill>
                <a:latin typeface="Aptos"/>
              </a:rPr>
              <a:t>4 global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585" y="2809860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 dirty="0">
                <a:solidFill>
                  <a:srgbClr val="282D37"/>
                </a:solidFill>
                <a:latin typeface="Aptos"/>
              </a:rPr>
              <a:t>Year, Country, Type, Research Area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7463" y="3918836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985" y="4187361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B2B4B"/>
                </a:solidFill>
                <a:latin typeface="Aptos"/>
              </a:rPr>
              <a:t>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625" y="4170105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3876BE"/>
                </a:solidFill>
                <a:latin typeface="Aptos"/>
              </a:rPr>
              <a:t>7 buttons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9297" y="4064163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 dirty="0">
                <a:solidFill>
                  <a:srgbClr val="282D37"/>
                </a:solidFill>
                <a:latin typeface="Aptos"/>
              </a:rPr>
              <a:t>Home + 4 pages + Back + Reset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6655" y="3918836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1105" y="409056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B2B4B"/>
                </a:solidFill>
                <a:latin typeface="Aptos"/>
              </a:rPr>
              <a:t>Drill-through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7025" y="4044597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3876BE"/>
                </a:solidFill>
                <a:latin typeface="Aptos"/>
              </a:rPr>
              <a:t>2 paths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585" y="3932336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 dirty="0">
                <a:solidFill>
                  <a:srgbClr val="282D37"/>
                </a:solidFill>
                <a:latin typeface="Aptos"/>
              </a:rPr>
              <a:t>University + Country details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5802" y="5051125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985" y="5336900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B2B4B"/>
                </a:solidFill>
                <a:latin typeface="Aptos"/>
              </a:rPr>
              <a:t>Tooltips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16974" y="5274118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3876BE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83788" y="5245460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 dirty="0">
                <a:solidFill>
                  <a:srgbClr val="282D37"/>
                </a:solidFill>
                <a:latin typeface="Aptos"/>
              </a:rPr>
              <a:t>One custom tooltip per page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6655" y="5062923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1105" y="5222943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B2B4B"/>
                </a:solidFill>
                <a:latin typeface="Aptos"/>
              </a:rPr>
              <a:t>Bookmarks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4165" y="5199740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3876BE"/>
                </a:solidFill>
                <a:latin typeface="Aptos"/>
              </a:rPr>
              <a:t>2–3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865" y="5108300"/>
            <a:ext cx="2057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 dirty="0">
                <a:solidFill>
                  <a:srgbClr val="282D37"/>
                </a:solidFill>
                <a:latin typeface="Aptos"/>
              </a:rPr>
              <a:t>Help / Reset / View toggle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B4B"/>
          </a:solidFill>
          <a:ln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1925" y="219456"/>
            <a:ext cx="8121967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 dirty="0">
                <a:solidFill>
                  <a:schemeClr val="bg1"/>
                </a:solidFill>
                <a:latin typeface="Aptos"/>
              </a:rPr>
              <a:t>3. Power BI Design Rules Before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1B2B4B"/>
                </a:solidFill>
                <a:latin typeface="Aptos"/>
              </a:rPr>
              <a:t>Page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34440"/>
            <a:ext cx="8046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 dirty="0">
                <a:solidFill>
                  <a:srgbClr val="282D37"/>
                </a:solidFill>
                <a:latin typeface="Aptos"/>
              </a:rPr>
              <a:t>16:9 landscape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1600200"/>
            <a:ext cx="10378440" cy="0"/>
          </a:xfrm>
          <a:prstGeom prst="line">
            <a:avLst/>
          </a:prstGeom>
          <a:ln w="762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1719072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B2B4B"/>
                </a:solidFill>
                <a:latin typeface="Aptos"/>
              </a:rPr>
              <a:t>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19072"/>
            <a:ext cx="8046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 dirty="0">
                <a:solidFill>
                  <a:srgbClr val="282D37"/>
                </a:solidFill>
                <a:latin typeface="Aptos"/>
              </a:rPr>
              <a:t>Same title + navigation on every page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2084832"/>
            <a:ext cx="10378440" cy="0"/>
          </a:xfrm>
          <a:prstGeom prst="line">
            <a:avLst/>
          </a:prstGeom>
          <a:ln w="762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2203704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B2B4B"/>
                </a:solidFill>
                <a:latin typeface="Aptos"/>
              </a:rPr>
              <a:t>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03704"/>
            <a:ext cx="8046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282D37"/>
                </a:solidFill>
                <a:latin typeface="Aptos"/>
              </a:rPr>
              <a:t>Keep slicers in one consistent row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569464"/>
            <a:ext cx="10378440" cy="0"/>
          </a:xfrm>
          <a:prstGeom prst="line">
            <a:avLst/>
          </a:prstGeom>
          <a:ln w="762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88336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B2B4B"/>
                </a:solidFill>
                <a:latin typeface="Aptos"/>
              </a:rPr>
              <a:t>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88336"/>
            <a:ext cx="8046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282D37"/>
                </a:solidFill>
                <a:latin typeface="Aptos"/>
              </a:rPr>
              <a:t>Maximum 3 main charts per page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054096"/>
            <a:ext cx="10378440" cy="0"/>
          </a:xfrm>
          <a:prstGeom prst="line">
            <a:avLst/>
          </a:prstGeom>
          <a:ln w="762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172968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B2B4B"/>
                </a:solidFill>
                <a:latin typeface="Aptos"/>
              </a:rPr>
              <a:t>KPI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172968"/>
            <a:ext cx="8046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282D37"/>
                </a:solidFill>
                <a:latin typeface="Aptos"/>
              </a:rPr>
              <a:t>4 KPI cards at the top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3538728"/>
            <a:ext cx="10378440" cy="0"/>
          </a:xfrm>
          <a:prstGeom prst="line">
            <a:avLst/>
          </a:prstGeom>
          <a:ln w="762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365760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B2B4B"/>
                </a:solidFill>
                <a:latin typeface="Aptos"/>
              </a:rPr>
              <a:t>Interaction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57600"/>
            <a:ext cx="8046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282D37"/>
                </a:solidFill>
                <a:latin typeface="Aptos"/>
              </a:rPr>
              <a:t>Cross-filter + drill-through + tooltip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4023360"/>
            <a:ext cx="10378440" cy="0"/>
          </a:xfrm>
          <a:prstGeom prst="line">
            <a:avLst/>
          </a:prstGeom>
          <a:ln w="762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4142232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1B2B4B"/>
                </a:solidFill>
                <a:latin typeface="Aptos"/>
              </a:rPr>
              <a:t>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142232"/>
            <a:ext cx="8046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282D37"/>
                </a:solidFill>
                <a:latin typeface="Aptos"/>
              </a:rPr>
              <a:t>Buttons should work on every page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4507992"/>
            <a:ext cx="10378440" cy="0"/>
          </a:xfrm>
          <a:prstGeom prst="line">
            <a:avLst/>
          </a:prstGeom>
          <a:ln w="762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4626864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1B2B4B"/>
                </a:solidFill>
                <a:latin typeface="Aptos"/>
              </a:rPr>
              <a:t>Colors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626864"/>
            <a:ext cx="8046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282D37"/>
                </a:solidFill>
                <a:latin typeface="Aptos"/>
              </a:rPr>
              <a:t>Use 1 primary + 1 accent + neutral background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" y="4992624"/>
            <a:ext cx="10378440" cy="0"/>
          </a:xfrm>
          <a:prstGeom prst="line">
            <a:avLst/>
          </a:prstGeom>
          <a:ln w="762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5111496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1B2B4B"/>
                </a:solidFill>
                <a:latin typeface="Aptos"/>
              </a:rPr>
              <a:t>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111496"/>
            <a:ext cx="8046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282D37"/>
                </a:solidFill>
                <a:latin typeface="Aptos"/>
              </a:rPr>
              <a:t>Short titles; avoid paragraphs inside visuals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2960" y="5477256"/>
            <a:ext cx="10378440" cy="0"/>
          </a:xfrm>
          <a:prstGeom prst="line">
            <a:avLst/>
          </a:prstGeom>
          <a:ln w="762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" y="5596128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B2B4B"/>
                </a:solidFill>
                <a:latin typeface="Aptos"/>
              </a:rPr>
              <a:t>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596128"/>
            <a:ext cx="8046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282D37"/>
                </a:solidFill>
                <a:latin typeface="Aptos"/>
              </a:rPr>
              <a:t>User should understand each page in &lt;10 seconds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5961888"/>
            <a:ext cx="10378440" cy="0"/>
          </a:xfrm>
          <a:prstGeom prst="line">
            <a:avLst/>
          </a:prstGeom>
          <a:ln w="7620">
            <a:solidFill>
              <a:srgbClr val="E0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693</Words>
  <Application>Microsoft Office PowerPoint</Application>
  <PresentationFormat>Widescreen</PresentationFormat>
  <Paragraphs>208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Ashwini Dhote</cp:lastModifiedBy>
  <cp:revision>3</cp:revision>
  <dcterms:created xsi:type="dcterms:W3CDTF">2013-01-27T09:14:16Z</dcterms:created>
  <dcterms:modified xsi:type="dcterms:W3CDTF">2026-08-18T14:37:18Z</dcterms:modified>
  <cp:category/>
</cp:coreProperties>
</file>