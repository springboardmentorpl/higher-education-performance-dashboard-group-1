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737360" cy="1737360"/>
          </a:xfrm>
          <a:prstGeom prst="ellipse">
            <a:avLst/>
          </a:prstGeom>
          <a:solidFill>
            <a:srgbClr val="E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45720"/>
            <a:ext cx="1143000" cy="1143000"/>
          </a:xfrm>
          <a:prstGeom prst="ellipse">
            <a:avLst/>
          </a:prstGeom>
          <a:solidFill>
            <a:srgbClr val="ED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11480" y="5897880"/>
            <a:ext cx="1280160" cy="1280160"/>
          </a:xfrm>
          <a:prstGeom prst="ellipse">
            <a:avLst/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8356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146304" cy="4343400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11306C"/>
                </a:solidFill>
              </a:defRPr>
            </a:pPr>
            <a:r>
              <a:t>EduVision_DV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3317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D41"/>
                </a:solidFill>
              </a:defRPr>
            </a:pPr>
            <a:r>
              <a:t>Higher Education Performance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92608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77D"/>
                </a:solidFill>
              </a:defRPr>
            </a:pPr>
            <a:r>
              <a:t>Project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886200"/>
            <a:ext cx="2240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6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959352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06C"/>
                </a:solidFill>
              </a:defRPr>
            </a:pPr>
            <a:r>
              <a:t>2,017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297680"/>
            <a:ext cx="9036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77D"/>
                </a:solidFill>
              </a:defRPr>
            </a:pPr>
            <a:r>
              <a:rPr sz="1200"/>
              <a:t>Universities</a:t>
            </a:r>
            <a:endParaRPr sz="1200"/>
          </a:p>
        </p:txBody>
      </p:sp>
      <p:sp>
        <p:nvSpPr>
          <p:cNvPr id="14" name="Rounded Rectangle 13"/>
          <p:cNvSpPr/>
          <p:nvPr/>
        </p:nvSpPr>
        <p:spPr>
          <a:xfrm>
            <a:off x="3657600" y="3886200"/>
            <a:ext cx="2240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29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3959352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06C"/>
                </a:solidFill>
              </a:defRPr>
            </a:pPr>
            <a:r>
              <a:t>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4297680"/>
            <a:ext cx="7772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77D"/>
                </a:solidFill>
              </a:defRPr>
            </a:pPr>
            <a:r>
              <a:rPr sz="1200"/>
              <a:t>Countries</a:t>
            </a:r>
            <a:endParaRPr sz="1200"/>
          </a:p>
        </p:txBody>
      </p:sp>
      <p:sp>
        <p:nvSpPr>
          <p:cNvPr id="17" name="Rounded Rectangle 16"/>
          <p:cNvSpPr/>
          <p:nvPr/>
        </p:nvSpPr>
        <p:spPr>
          <a:xfrm>
            <a:off x="6172200" y="3886200"/>
            <a:ext cx="2240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4B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959352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06C"/>
                </a:solidFill>
              </a:defRPr>
            </a:pPr>
            <a:r>
              <a:t>47.96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297680"/>
            <a:ext cx="17392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77D"/>
                </a:solidFill>
              </a:defRPr>
            </a:pPr>
            <a:r>
              <a:rPr sz="1200"/>
              <a:t>Avg Global Ranking Score</a:t>
            </a:r>
            <a:endParaRPr sz="1200"/>
          </a:p>
        </p:txBody>
      </p:sp>
      <p:sp>
        <p:nvSpPr>
          <p:cNvPr id="20" name="Rounded Rectangle 19"/>
          <p:cNvSpPr/>
          <p:nvPr/>
        </p:nvSpPr>
        <p:spPr>
          <a:xfrm>
            <a:off x="8686800" y="3886200"/>
            <a:ext cx="2240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896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2" y="3959352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06C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4297680"/>
            <a:ext cx="15963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77D"/>
                </a:solidFill>
              </a:defRPr>
            </a:pPr>
            <a:r>
              <a:t>I</a:t>
            </a:r>
            <a:r>
              <a:rPr sz="1200"/>
              <a:t>nteractive Dashboards</a:t>
            </a:r>
            <a:endParaRPr sz="1200"/>
          </a:p>
        </p:txBody>
      </p:sp>
      <p:sp>
        <p:nvSpPr>
          <p:cNvPr id="23" name="TextBox 22"/>
          <p:cNvSpPr txBox="1"/>
          <p:nvPr/>
        </p:nvSpPr>
        <p:spPr>
          <a:xfrm>
            <a:off x="1170432" y="498348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306C"/>
                </a:solidFill>
              </a:defRPr>
            </a:pPr>
            <a:r>
              <a:t>Ranking • Research • Students • Country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77D"/>
                </a:solidFill>
              </a:defRPr>
            </a:pPr>
            <a:r>
              <a:t>EduVision_DV • Higher Education Performance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1306C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737360" cy="1737360"/>
          </a:xfrm>
          <a:prstGeom prst="ellipse">
            <a:avLst/>
          </a:prstGeom>
          <a:solidFill>
            <a:srgbClr val="E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45720"/>
            <a:ext cx="1143000" cy="1143000"/>
          </a:xfrm>
          <a:prstGeom prst="ellipse">
            <a:avLst/>
          </a:prstGeom>
          <a:solidFill>
            <a:srgbClr val="ED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11480" y="5897880"/>
            <a:ext cx="1280160" cy="1280160"/>
          </a:xfrm>
          <a:prstGeom prst="ellipse">
            <a:avLst/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9728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Dataset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589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Source → preparation → final analytical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51560"/>
            <a:ext cx="1554480" cy="347472"/>
          </a:xfrm>
          <a:prstGeom prst="round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1" y="1106424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08760"/>
            <a:ext cx="64008" cy="1874519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61848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Source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1965960"/>
            <a:ext cx="3136392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2024 rankings workbook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QS ranking sheet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THE ranking sheet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University + country information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508760"/>
            <a:ext cx="64008" cy="1874519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61848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Preparation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1965960"/>
            <a:ext cx="3136392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Standardize university names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Match QS + THE records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Merge into unified dataset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1508760"/>
            <a:ext cx="64008" cy="1874519"/>
          </a:xfrm>
          <a:prstGeom prst="rect">
            <a:avLst/>
          </a:prstGeom>
          <a:solidFill>
            <a:srgbClr val="4B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3" y="161848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Final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1965960"/>
            <a:ext cx="3136392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university_cleaned_data.csv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KPI engineering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university_final_dataset.xlsx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1554480" cy="347472"/>
          </a:xfrm>
          <a:prstGeom prst="roundRect">
            <a:avLst/>
          </a:prstGeom>
          <a:solidFill>
            <a:srgbClr val="89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1" y="3758183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DATA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51960"/>
            <a:ext cx="1920240" cy="777240"/>
          </a:xfrm>
          <a:prstGeom prst="roundRect">
            <a:avLst/>
          </a:prstGeom>
          <a:solidFill>
            <a:srgbClr val="E2EDFC"/>
          </a:solidFill>
          <a:ln>
            <a:solidFill>
              <a:srgbClr val="26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805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306C"/>
                </a:solidFill>
              </a:defRPr>
            </a:pPr>
            <a:r>
              <a:t>QS + THE</a:t>
            </a:r>
          </a:p>
        </p:txBody>
      </p:sp>
      <p:sp>
        <p:nvSpPr>
          <p:cNvPr id="27" name="Chevron 26"/>
          <p:cNvSpPr/>
          <p:nvPr/>
        </p:nvSpPr>
        <p:spPr>
          <a:xfrm>
            <a:off x="2679192" y="4462272"/>
            <a:ext cx="320040" cy="274320"/>
          </a:xfrm>
          <a:prstGeom prst="chevron">
            <a:avLst/>
          </a:prstGeom>
          <a:solidFill>
            <a:srgbClr val="D3D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26080" y="4251960"/>
            <a:ext cx="1920240" cy="777240"/>
          </a:xfrm>
          <a:prstGeom prst="roundRect">
            <a:avLst/>
          </a:prstGeom>
          <a:solidFill>
            <a:srgbClr val="FDF1DB"/>
          </a:solidFill>
          <a:ln>
            <a:solidFill>
              <a:srgbClr val="F29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44805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306C"/>
                </a:solidFill>
              </a:defRPr>
            </a:pPr>
            <a:r>
              <a:t>Clean</a:t>
            </a:r>
          </a:p>
        </p:txBody>
      </p:sp>
      <p:sp>
        <p:nvSpPr>
          <p:cNvPr id="30" name="Chevron 29"/>
          <p:cNvSpPr/>
          <p:nvPr/>
        </p:nvSpPr>
        <p:spPr>
          <a:xfrm>
            <a:off x="4919472" y="4462272"/>
            <a:ext cx="320040" cy="274320"/>
          </a:xfrm>
          <a:prstGeom prst="chevron">
            <a:avLst/>
          </a:prstGeom>
          <a:solidFill>
            <a:srgbClr val="D3D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66360" y="4251960"/>
            <a:ext cx="1920240" cy="777240"/>
          </a:xfrm>
          <a:prstGeom prst="roundRect">
            <a:avLst/>
          </a:prstGeom>
          <a:solidFill>
            <a:srgbClr val="EDE7F8"/>
          </a:solidFill>
          <a:ln>
            <a:solidFill>
              <a:srgbClr val="896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44805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306C"/>
                </a:solidFill>
              </a:defRPr>
            </a:pPr>
            <a:r>
              <a:t>Merge</a:t>
            </a:r>
          </a:p>
        </p:txBody>
      </p:sp>
      <p:sp>
        <p:nvSpPr>
          <p:cNvPr id="33" name="Chevron 32"/>
          <p:cNvSpPr/>
          <p:nvPr/>
        </p:nvSpPr>
        <p:spPr>
          <a:xfrm>
            <a:off x="7159752" y="4462272"/>
            <a:ext cx="320040" cy="274320"/>
          </a:xfrm>
          <a:prstGeom prst="chevron">
            <a:avLst/>
          </a:prstGeom>
          <a:solidFill>
            <a:srgbClr val="D3D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06640" y="4251960"/>
            <a:ext cx="1920240" cy="777240"/>
          </a:xfrm>
          <a:prstGeom prst="roundRect">
            <a:avLst/>
          </a:prstGeom>
          <a:solidFill>
            <a:srgbClr val="E1F2EE"/>
          </a:solidFill>
          <a:ln>
            <a:solidFill>
              <a:srgbClr val="4B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60" y="44805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306C"/>
                </a:solidFill>
              </a:defRPr>
            </a:pPr>
            <a:r>
              <a:t>KPI Engineering</a:t>
            </a:r>
          </a:p>
        </p:txBody>
      </p:sp>
      <p:sp>
        <p:nvSpPr>
          <p:cNvPr id="36" name="Chevron 35"/>
          <p:cNvSpPr/>
          <p:nvPr/>
        </p:nvSpPr>
        <p:spPr>
          <a:xfrm>
            <a:off x="9400032" y="4462272"/>
            <a:ext cx="320040" cy="274320"/>
          </a:xfrm>
          <a:prstGeom prst="chevron">
            <a:avLst/>
          </a:prstGeom>
          <a:solidFill>
            <a:srgbClr val="D3D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46920" y="4251960"/>
            <a:ext cx="1920240" cy="777240"/>
          </a:xfrm>
          <a:prstGeom prst="roundRect">
            <a:avLst/>
          </a:prstGeom>
          <a:solidFill>
            <a:srgbClr val="E2EDFC"/>
          </a:solidFill>
          <a:ln>
            <a:solidFill>
              <a:srgbClr val="26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44805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306C"/>
                </a:solidFill>
              </a:defRPr>
            </a:pPr>
            <a:r>
              <a:t>Tableau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349240"/>
            <a:ext cx="10881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349240"/>
            <a:ext cx="64008" cy="658368"/>
          </a:xfrm>
          <a:prstGeom prst="rect">
            <a:avLst/>
          </a:prstGeom>
          <a:solidFill>
            <a:srgbClr val="DE5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45896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Supporting 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752465"/>
            <a:ext cx="10588625" cy="1822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D41"/>
                </a:solidFill>
              </a:defRPr>
            </a:pPr>
            <a:r>
              <a:t>• review_matches.csv • unmatched_universities.csv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77D"/>
                </a:solidFill>
              </a:defRPr>
            </a:pPr>
            <a:r>
              <a:t>EduVision_DV • Higher Education Performance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1306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737360" cy="1737360"/>
          </a:xfrm>
          <a:prstGeom prst="ellipse">
            <a:avLst/>
          </a:prstGeom>
          <a:solidFill>
            <a:srgbClr val="E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45720"/>
            <a:ext cx="1143000" cy="1143000"/>
          </a:xfrm>
          <a:prstGeom prst="ellipse">
            <a:avLst/>
          </a:prstGeom>
          <a:solidFill>
            <a:srgbClr val="ED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11480" y="5897880"/>
            <a:ext cx="1280160" cy="1280160"/>
          </a:xfrm>
          <a:prstGeom prst="ellipse">
            <a:avLst/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9728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Dataset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589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Fields grouped according to the analytics 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43000"/>
            <a:ext cx="2651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143000"/>
            <a:ext cx="64008" cy="4526280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52728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600200"/>
            <a:ext cx="2359152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University Name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Country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THE Rank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QS Rank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THE Overall Score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QS Overall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143000"/>
            <a:ext cx="2651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143000"/>
            <a:ext cx="64008" cy="4526280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252728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Academic &amp;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600200"/>
            <a:ext cx="2359152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Academic Reputation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Employer Reputation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Teaching Score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Research Score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THE / QS Citation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Industry Income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1143000"/>
            <a:ext cx="2651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18504" y="1143000"/>
            <a:ext cx="64008" cy="4526280"/>
          </a:xfrm>
          <a:prstGeom prst="rect">
            <a:avLst/>
          </a:prstGeom>
          <a:solidFill>
            <a:srgbClr val="4B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1252728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1600200"/>
            <a:ext cx="2359152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Faculty Student Score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Student Staff Ratio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Number of Students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International Students %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International Faculty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1143000"/>
            <a:ext cx="2377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1143000"/>
            <a:ext cx="64008" cy="4526280"/>
          </a:xfrm>
          <a:prstGeom prst="rect">
            <a:avLst/>
          </a:prstGeom>
          <a:solidFill>
            <a:srgbClr val="89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5" y="125272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Global &amp; KPI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5" y="1600200"/>
            <a:ext cx="2084832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International Outlook</a:t>
            </a:r>
          </a:p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Employment Outcomes</a:t>
            </a:r>
          </a:p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Sustainability Score</a:t>
            </a:r>
          </a:p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Global Ranking Score</a:t>
            </a:r>
          </a:p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Research Impact Score</a:t>
            </a:r>
          </a:p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Research Productivity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77D"/>
                </a:solidFill>
              </a:defRPr>
            </a:pPr>
            <a:r>
              <a:t>EduVision_DV • Higher Education Performance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1306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737360" cy="1737360"/>
          </a:xfrm>
          <a:prstGeom prst="ellipse">
            <a:avLst/>
          </a:prstGeom>
          <a:solidFill>
            <a:srgbClr val="E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45720"/>
            <a:ext cx="1143000" cy="1143000"/>
          </a:xfrm>
          <a:prstGeom prst="ellipse">
            <a:avLst/>
          </a:prstGeom>
          <a:solidFill>
            <a:srgbClr val="ED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11480" y="5897880"/>
            <a:ext cx="1280160" cy="1280160"/>
          </a:xfrm>
          <a:prstGeom prst="ellipse">
            <a:avLst/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9728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589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Key preprocessing steps applied before dashboard creation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64008" cy="1143000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252728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600200"/>
            <a:ext cx="50109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Convert *, N/A, NA and – to missing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Fill numeric missing values with median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430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64008" cy="1143000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52728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Text Standardization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50109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Trim names and countries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Normalize spacing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0604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606040"/>
            <a:ext cx="64008" cy="1143000"/>
          </a:xfrm>
          <a:prstGeom prst="rect">
            <a:avLst/>
          </a:prstGeom>
          <a:solidFill>
            <a:srgbClr val="4B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715768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Numeric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063240"/>
            <a:ext cx="50109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Convert performance and student fields to numeric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Handle invalid rank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60604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606040"/>
            <a:ext cx="64008" cy="1143000"/>
          </a:xfrm>
          <a:prstGeom prst="rect">
            <a:avLst/>
          </a:prstGeom>
          <a:solidFill>
            <a:srgbClr val="89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715768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Data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50109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Remove duplicates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Drop rows with no core performance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69080"/>
            <a:ext cx="1554480" cy="347472"/>
          </a:xfrm>
          <a:prstGeom prst="roundRect">
            <a:avLst/>
          </a:prstGeom>
          <a:solidFill>
            <a:srgbClr val="DE5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4123944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26280"/>
            <a:ext cx="10881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526280"/>
            <a:ext cx="64008" cy="960120"/>
          </a:xfrm>
          <a:prstGeom prst="rect">
            <a:avLst/>
          </a:prstGeom>
          <a:solidFill>
            <a:srgbClr val="DE5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463600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Clean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983480"/>
            <a:ext cx="105887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32D41"/>
                </a:solidFill>
              </a:defRPr>
            </a:pPr>
            <a:r>
              <a:t>• Cleaned CSV → KPI engineering → university_final_dataset.xlsx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77D"/>
                </a:solidFill>
              </a:defRPr>
            </a:pPr>
            <a:r>
              <a:t>EduVision_DV • Higher Education Performance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1306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737360" cy="1737360"/>
          </a:xfrm>
          <a:prstGeom prst="ellipse">
            <a:avLst/>
          </a:prstGeom>
          <a:solidFill>
            <a:srgbClr val="E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45720"/>
            <a:ext cx="1143000" cy="1143000"/>
          </a:xfrm>
          <a:prstGeom prst="ellipse">
            <a:avLst/>
          </a:prstGeom>
          <a:solidFill>
            <a:srgbClr val="ED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11480" y="5897880"/>
            <a:ext cx="1280160" cy="1280160"/>
          </a:xfrm>
          <a:prstGeom prst="ellipse">
            <a:avLst/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9728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KPI Definitions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589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Derived measures used to summarize university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64008" cy="1417320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25272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Global Ranking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600200"/>
            <a:ext cx="31363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QS/THE ranks normalized to 0–100</a:t>
            </a:r>
          </a:p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Average QS + THE when both exist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1430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143000"/>
            <a:ext cx="64008" cy="1417320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25272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Research Impact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600200"/>
            <a:ext cx="31363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Average of QS + THE Citation Scores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1430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1143000"/>
            <a:ext cx="64008" cy="1417320"/>
          </a:xfrm>
          <a:prstGeom prst="rect">
            <a:avLst/>
          </a:prstGeom>
          <a:solidFill>
            <a:srgbClr val="4B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3" y="125272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Faculty-to-Student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1600200"/>
            <a:ext cx="31363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Based on Student Staff Ratio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718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971800"/>
            <a:ext cx="64008" cy="1417320"/>
          </a:xfrm>
          <a:prstGeom prst="rect">
            <a:avLst/>
          </a:prstGeom>
          <a:solidFill>
            <a:srgbClr val="89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08152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International Student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429000"/>
            <a:ext cx="31363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Uses International Students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29718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2" y="2971800"/>
            <a:ext cx="64008" cy="1417320"/>
          </a:xfrm>
          <a:prstGeom prst="rect">
            <a:avLst/>
          </a:prstGeom>
          <a:solidFill>
            <a:srgbClr val="E06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08152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Academic Reputation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429000"/>
            <a:ext cx="31363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Uses Academic Reputation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29718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2971800"/>
            <a:ext cx="64008" cy="1417320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3" y="308152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Research Productivity 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3" y="3429000"/>
            <a:ext cx="31363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Research performance adjusted for university size</a:t>
            </a:r>
          </a:p>
          <a:p>
            <a:pPr>
              <a:spcAft>
                <a:spcPts val="400"/>
              </a:spcAft>
              <a:defRPr sz="1180">
                <a:solidFill>
                  <a:srgbClr val="232D41"/>
                </a:solidFill>
              </a:defRPr>
            </a:pPr>
            <a:r>
              <a:t>• Normalized to 0–100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92040"/>
            <a:ext cx="10881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892040"/>
            <a:ext cx="64008" cy="822960"/>
          </a:xfrm>
          <a:prstGeom prst="rect">
            <a:avLst/>
          </a:prstGeom>
          <a:solidFill>
            <a:srgbClr val="4B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5001768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Research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5349240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32D41"/>
                </a:solidFill>
              </a:defRPr>
            </a:pPr>
            <a:r>
              <a:t>• 50% Research Score + 50% Research Impact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77D"/>
                </a:solidFill>
              </a:defRPr>
            </a:pPr>
            <a:r>
              <a:t>EduVision_DV • Higher Education Performance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1306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737360" cy="1737360"/>
          </a:xfrm>
          <a:prstGeom prst="ellipse">
            <a:avLst/>
          </a:prstGeom>
          <a:solidFill>
            <a:srgbClr val="E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45720"/>
            <a:ext cx="1143000" cy="1143000"/>
          </a:xfrm>
          <a:prstGeom prst="ellipse">
            <a:avLst/>
          </a:prstGeom>
          <a:solidFill>
            <a:srgbClr val="ED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11480" y="5897880"/>
            <a:ext cx="1280160" cy="1280160"/>
          </a:xfrm>
          <a:prstGeom prst="ellipse">
            <a:avLst/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9728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Education Analytics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589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Analytical approach used across the four dashboard sections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188720"/>
            <a:ext cx="64008" cy="1965960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29844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Ranking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645920"/>
            <a:ext cx="3136392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Extract rank number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Normalize rank to 0–100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Combine QS + THE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Compare universities / countries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1887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188720"/>
            <a:ext cx="64008" cy="1965960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29844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Research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45920"/>
            <a:ext cx="3136392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Combine citation scores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Calculate research performance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Measure research productivity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Compare research 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887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64008" cy="1965960"/>
          </a:xfrm>
          <a:prstGeom prst="rect">
            <a:avLst/>
          </a:prstGeom>
          <a:solidFill>
            <a:srgbClr val="4B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29844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Student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645920"/>
            <a:ext cx="3136392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Analyze enrollment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Study international students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Compare faculty capacity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Identify diversity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11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11880"/>
            <a:ext cx="64008" cy="1508760"/>
          </a:xfrm>
          <a:prstGeom prst="rect">
            <a:avLst/>
          </a:prstGeom>
          <a:solidFill>
            <a:srgbClr val="89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72160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Country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069080"/>
            <a:ext cx="313639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Aggregate university indicators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Compare key performance measures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611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611880"/>
            <a:ext cx="64008" cy="1508760"/>
          </a:xfrm>
          <a:prstGeom prst="rect">
            <a:avLst/>
          </a:prstGeom>
          <a:solidFill>
            <a:srgbClr val="E06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2160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069080"/>
            <a:ext cx="313639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KPI cards • bar charts • maps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Treemap • scatter • bubbles • donut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611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611880"/>
            <a:ext cx="64008" cy="1508760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72160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Comparison Levels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069080"/>
            <a:ext cx="3136392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University level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Country level</a:t>
            </a:r>
          </a:p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Global level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394960"/>
            <a:ext cx="109270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394960"/>
            <a:ext cx="64008" cy="566928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426710"/>
            <a:ext cx="10652760" cy="370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Goal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74360"/>
            <a:ext cx="10634345" cy="2146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32D41"/>
                </a:solidFill>
              </a:defRPr>
            </a:pPr>
            <a:r>
              <a:t>• Turn complex ranking data into interactive, understandable comparisons.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77D"/>
                </a:solidFill>
              </a:defRPr>
            </a:pPr>
            <a:r>
              <a:t>EduVision_DV • Higher Education Performance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1306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737360" cy="1737360"/>
          </a:xfrm>
          <a:prstGeom prst="ellipse">
            <a:avLst/>
          </a:prstGeom>
          <a:solidFill>
            <a:srgbClr val="E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45720"/>
            <a:ext cx="1143000" cy="1143000"/>
          </a:xfrm>
          <a:prstGeom prst="ellipse">
            <a:avLst/>
          </a:prstGeom>
          <a:solidFill>
            <a:srgbClr val="ED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11480" y="5897880"/>
            <a:ext cx="1280160" cy="1280160"/>
          </a:xfrm>
          <a:prstGeom prst="ellipse">
            <a:avLst/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9728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UNIVERSITY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589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Overall ranking, academic reputation and global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78992"/>
            <a:ext cx="7178040" cy="5166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5 15332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1110"/>
            <a:ext cx="6889750" cy="48742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45552" y="1097280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45552" y="1097280"/>
            <a:ext cx="64008" cy="1170432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207007"/>
            <a:ext cx="3520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1554480"/>
            <a:ext cx="3502152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</a:t>
            </a:r>
            <a:r>
              <a:rPr lang="en-IN"/>
              <a:t> U</a:t>
            </a:r>
            <a:r>
              <a:t>niversity performance.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</a:t>
            </a:r>
            <a:r>
              <a:rPr lang="en-IN"/>
              <a:t>R</a:t>
            </a:r>
            <a:r>
              <a:t>anking and </a:t>
            </a:r>
            <a:r>
              <a:rPr lang="en-IN"/>
              <a:t>R</a:t>
            </a:r>
            <a:r>
              <a:t>eputation comparisons.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5552" y="2377439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45552" y="2377439"/>
            <a:ext cx="64008" cy="1170432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305" y="2403475"/>
            <a:ext cx="3520440" cy="40449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Main Visuals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305" y="2663190"/>
            <a:ext cx="3502025" cy="811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Top 10 Universities by Global Ranking Score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Performance by Country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Global University Distribution map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Ranking distribution + reputation scatter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5552" y="3657599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45552" y="3657599"/>
            <a:ext cx="64008" cy="1170432"/>
          </a:xfrm>
          <a:prstGeom prst="rect">
            <a:avLst/>
          </a:prstGeom>
          <a:solidFill>
            <a:srgbClr val="4B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305" y="3674745"/>
            <a:ext cx="3520440" cy="38544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KPI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305" y="3927475"/>
            <a:ext cx="3502025" cy="8274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Total Universities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Avg Global Ranking Score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Total Countries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Avg Academic Reputation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45552" y="4937759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45552" y="4937759"/>
            <a:ext cx="64008" cy="1170432"/>
          </a:xfrm>
          <a:prstGeom prst="rect">
            <a:avLst/>
          </a:prstGeom>
          <a:solidFill>
            <a:srgbClr val="89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5047488"/>
            <a:ext cx="3520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Filters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305" y="5332730"/>
            <a:ext cx="3502025" cy="7023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University Name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Country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Reset Filters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5552" y="6236208"/>
            <a:ext cx="3794760" cy="310896"/>
          </a:xfrm>
          <a:prstGeom prst="round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9335" y="6291072"/>
            <a:ext cx="1687195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sz="900"/>
              <a:t>Explain: KPI → visuals → insight</a:t>
            </a:r>
            <a:endParaRPr sz="900"/>
          </a:p>
        </p:txBody>
      </p:sp>
      <p:sp>
        <p:nvSpPr>
          <p:cNvPr id="29" name="TextBox 28"/>
          <p:cNvSpPr txBox="1"/>
          <p:nvPr/>
        </p:nvSpPr>
        <p:spPr>
          <a:xfrm>
            <a:off x="54864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77D"/>
                </a:solidFill>
              </a:defRPr>
            </a:pPr>
            <a:r>
              <a:t>EduVision_DV • Higher Education Performance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1306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737360" cy="1737360"/>
          </a:xfrm>
          <a:prstGeom prst="ellipse">
            <a:avLst/>
          </a:prstGeom>
          <a:solidFill>
            <a:srgbClr val="E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45720"/>
            <a:ext cx="1143000" cy="1143000"/>
          </a:xfrm>
          <a:prstGeom prst="ellipse">
            <a:avLst/>
          </a:prstGeom>
          <a:solidFill>
            <a:srgbClr val="ED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11480" y="5897880"/>
            <a:ext cx="1280160" cy="1280160"/>
          </a:xfrm>
          <a:prstGeom prst="ellipse">
            <a:avLst/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9728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RESEARCH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589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Research performance, citations and global research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78992"/>
            <a:ext cx="7178040" cy="5166360"/>
          </a:xfrm>
          <a:prstGeom prst="rect">
            <a:avLst/>
          </a:prstGeom>
          <a:solidFill>
            <a:srgbClr val="DCE6F2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5 15333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07008"/>
            <a:ext cx="6931152" cy="48920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45552" y="1097280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45552" y="1097280"/>
            <a:ext cx="64008" cy="1170432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207007"/>
            <a:ext cx="3520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1554480"/>
            <a:ext cx="3502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Focuses on research strength and impact.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Supports institution and country-level comparison.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5552" y="2377439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45552" y="2377439"/>
            <a:ext cx="64008" cy="1170432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305" y="2409825"/>
            <a:ext cx="3520440" cy="37020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Main Visuals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305" y="2630805"/>
            <a:ext cx="3502025" cy="8439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Citation Performance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Research Performance by Country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Top Research Institutions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Research Score vs Research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5552" y="3657599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45552" y="3657599"/>
            <a:ext cx="64008" cy="1170432"/>
          </a:xfrm>
          <a:prstGeom prst="rect">
            <a:avLst/>
          </a:prstGeom>
          <a:solidFill>
            <a:srgbClr val="4B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305" y="3674745"/>
            <a:ext cx="3520440" cy="38544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KPI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305" y="3926840"/>
            <a:ext cx="3502025" cy="828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Total Universities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Avg Research Score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Avg Research Impact Score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Avg Research 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45552" y="4937759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45552" y="4937759"/>
            <a:ext cx="64008" cy="1170432"/>
          </a:xfrm>
          <a:prstGeom prst="rect">
            <a:avLst/>
          </a:prstGeom>
          <a:solidFill>
            <a:srgbClr val="89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5047488"/>
            <a:ext cx="3520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Filters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5394959"/>
            <a:ext cx="3502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University Name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Country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Reset Filters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5552" y="6236208"/>
            <a:ext cx="3794760" cy="310896"/>
          </a:xfrm>
          <a:prstGeom prst="round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6992" y="6291072"/>
            <a:ext cx="3611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Explain: KPI → visuals →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77D"/>
                </a:solidFill>
              </a:defRPr>
            </a:pPr>
            <a:r>
              <a:t>EduVision_DV • Higher Education Performance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1306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737360" cy="1737360"/>
          </a:xfrm>
          <a:prstGeom prst="ellipse">
            <a:avLst/>
          </a:prstGeom>
          <a:solidFill>
            <a:srgbClr val="E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45720"/>
            <a:ext cx="1143000" cy="1143000"/>
          </a:xfrm>
          <a:prstGeom prst="ellipse">
            <a:avLst/>
          </a:prstGeom>
          <a:solidFill>
            <a:srgbClr val="ED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11480" y="5897880"/>
            <a:ext cx="1280160" cy="1280160"/>
          </a:xfrm>
          <a:prstGeom prst="ellipse">
            <a:avLst/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9728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STUDENT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589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Student enrollment, diversity and faculty capacity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78992"/>
            <a:ext cx="7178040" cy="5166360"/>
          </a:xfrm>
          <a:prstGeom prst="rect">
            <a:avLst/>
          </a:prstGeom>
          <a:solidFill>
            <a:srgbClr val="DCE6F2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5 15334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07008"/>
            <a:ext cx="6931152" cy="48920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45552" y="1097280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45552" y="1097280"/>
            <a:ext cx="64008" cy="1170432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207007"/>
            <a:ext cx="3520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1554480"/>
            <a:ext cx="3502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Examines student scale and internationalization.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Connects student diversity with faculty capacity.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5552" y="2377439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45552" y="2377439"/>
            <a:ext cx="64008" cy="1170432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305" y="2424430"/>
            <a:ext cx="3520440" cy="355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Main Visuals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305" y="2630805"/>
            <a:ext cx="3502025" cy="8439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International Student Diversity by Country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Global Student Distribution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Top 10 Universities by Student Enrollment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Student Diversity donut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7845552" y="3657599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45552" y="3657599"/>
            <a:ext cx="64008" cy="1170432"/>
          </a:xfrm>
          <a:prstGeom prst="rect">
            <a:avLst/>
          </a:prstGeom>
          <a:solidFill>
            <a:srgbClr val="4B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305" y="3691890"/>
            <a:ext cx="3520440" cy="3683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KPI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305" y="3942080"/>
            <a:ext cx="3502025" cy="812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Number of Students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International Student %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Faculty-to-Student Ratio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International Student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45552" y="4937759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45552" y="4937759"/>
            <a:ext cx="64008" cy="1170432"/>
          </a:xfrm>
          <a:prstGeom prst="rect">
            <a:avLst/>
          </a:prstGeom>
          <a:solidFill>
            <a:srgbClr val="89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5047488"/>
            <a:ext cx="3520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Filters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5394959"/>
            <a:ext cx="3502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University Name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Country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Reset Filters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5552" y="6236208"/>
            <a:ext cx="3794760" cy="310896"/>
          </a:xfrm>
          <a:prstGeom prst="round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6992" y="6291072"/>
            <a:ext cx="3611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Explain: KPI → visuals →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77D"/>
                </a:solidFill>
              </a:defRPr>
            </a:pPr>
            <a:r>
              <a:t>EduVision_DV • Higher Education Performance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1306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737360" cy="1737360"/>
          </a:xfrm>
          <a:prstGeom prst="ellipse">
            <a:avLst/>
          </a:prstGeom>
          <a:solidFill>
            <a:srgbClr val="E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45720"/>
            <a:ext cx="1143000" cy="1143000"/>
          </a:xfrm>
          <a:prstGeom prst="ellipse">
            <a:avLst/>
          </a:prstGeom>
          <a:solidFill>
            <a:srgbClr val="ED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11480" y="5897880"/>
            <a:ext cx="1280160" cy="1280160"/>
          </a:xfrm>
          <a:prstGeom prst="ellipse">
            <a:avLst/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9728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COUNTRY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589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Country-level view of higher education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78992"/>
            <a:ext cx="7178040" cy="5166360"/>
          </a:xfrm>
          <a:prstGeom prst="rect">
            <a:avLst/>
          </a:prstGeom>
          <a:solidFill>
            <a:srgbClr val="DCE6F2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5 15335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07008"/>
            <a:ext cx="6931152" cy="48920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45552" y="1097280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45552" y="1097280"/>
            <a:ext cx="64008" cy="1170432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207007"/>
            <a:ext cx="3520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1554480"/>
            <a:ext cx="3502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Compares countries using aggregated university indicators.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Highlights differences across ranking, research and teaching.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5552" y="2377439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45552" y="2377439"/>
            <a:ext cx="64008" cy="1170432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305" y="2409190"/>
            <a:ext cx="3520440" cy="370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Main Visuals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305" y="2646680"/>
            <a:ext cx="3502025" cy="828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Top 10 Countries by Global University Performance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Ranking vs Research Impact scatter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Country Performance heatmap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University Distribution by Country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7845552" y="3657599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45552" y="3657599"/>
            <a:ext cx="64008" cy="1170432"/>
          </a:xfrm>
          <a:prstGeom prst="rect">
            <a:avLst/>
          </a:prstGeom>
          <a:solidFill>
            <a:srgbClr val="4B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305" y="3692525"/>
            <a:ext cx="3520440" cy="367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KPI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305" y="3926840"/>
            <a:ext cx="3502025" cy="828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Total Universities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Avg Global Ranking Score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Total Countries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Avg Research Impact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45552" y="4937759"/>
            <a:ext cx="37947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45552" y="4937759"/>
            <a:ext cx="64008" cy="1170432"/>
          </a:xfrm>
          <a:prstGeom prst="rect">
            <a:avLst/>
          </a:prstGeom>
          <a:solidFill>
            <a:srgbClr val="89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5047488"/>
            <a:ext cx="3520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Filters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5394959"/>
            <a:ext cx="3502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University Name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Country</a:t>
            </a:r>
          </a:p>
          <a:p>
            <a:pPr>
              <a:spcAft>
                <a:spcPts val="400"/>
              </a:spcAft>
              <a:defRPr sz="1060">
                <a:solidFill>
                  <a:srgbClr val="232D41"/>
                </a:solidFill>
              </a:defRPr>
            </a:pPr>
            <a:r>
              <a:t>• Reset Filters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5552" y="6236208"/>
            <a:ext cx="3794760" cy="310896"/>
          </a:xfrm>
          <a:prstGeom prst="round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6992" y="6291072"/>
            <a:ext cx="3611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Explain: KPI → visuals →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77D"/>
                </a:solidFill>
              </a:defRPr>
            </a:pPr>
            <a:r>
              <a:t>EduVision_DV • Higher Education Performance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1306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737360" cy="1737360"/>
          </a:xfrm>
          <a:prstGeom prst="ellipse">
            <a:avLst/>
          </a:prstGeom>
          <a:solidFill>
            <a:srgbClr val="E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45720"/>
            <a:ext cx="1143000" cy="1143000"/>
          </a:xfrm>
          <a:prstGeom prst="ellipse">
            <a:avLst/>
          </a:prstGeom>
          <a:solidFill>
            <a:srgbClr val="ED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11480" y="5897880"/>
            <a:ext cx="1280160" cy="1280160"/>
          </a:xfrm>
          <a:prstGeom prst="ellipse">
            <a:avLst/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9728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11. Dashboard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589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How a user interacts with EduVision_DV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8952" y="1490472"/>
            <a:ext cx="658368" cy="658368"/>
          </a:xfrm>
          <a:prstGeom prst="ellipse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45920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4630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306C"/>
                </a:solidFill>
              </a:defRPr>
            </a:pPr>
            <a:r>
              <a:t>SELECT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47088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Choose University / Country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344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53712" y="1490472"/>
            <a:ext cx="658368" cy="658368"/>
          </a:xfrm>
          <a:prstGeom prst="ellipse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645920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4630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306C"/>
                </a:solidFill>
              </a:defRPr>
            </a:pPr>
            <a: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847088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Read KPI 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2344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48472" y="1490472"/>
            <a:ext cx="658368" cy="658368"/>
          </a:xfrm>
          <a:prstGeom prst="ellipse">
            <a:avLst/>
          </a:prstGeom>
          <a:solidFill>
            <a:srgbClr val="4B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1645920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4630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306C"/>
                </a:solidFill>
              </a:defRPr>
            </a:pPr>
            <a:r>
              <a:t>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47088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Use charts and maps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1089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8952" y="3364991"/>
            <a:ext cx="658368" cy="658368"/>
          </a:xfrm>
          <a:prstGeom prst="ellipse">
            <a:avLst/>
          </a:prstGeom>
          <a:solidFill>
            <a:srgbClr val="89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20440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33756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306C"/>
                </a:solidFill>
              </a:defRPr>
            </a:pPr>
            <a:r>
              <a:t>ANALYZE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721608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Find patterns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1089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53712" y="3364991"/>
            <a:ext cx="658368" cy="658368"/>
          </a:xfrm>
          <a:prstGeom prst="ellipse">
            <a:avLst/>
          </a:prstGeom>
          <a:solidFill>
            <a:srgbClr val="E06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3520440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33756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306C"/>
                </a:solidFill>
              </a:defRPr>
            </a:pPr>
            <a:r>
              <a:t>EXPLAIN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3721608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Relate to KPI meaning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31089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48472" y="3364991"/>
            <a:ext cx="658368" cy="658368"/>
          </a:xfrm>
          <a:prstGeom prst="ellipse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2" y="3520440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33756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306C"/>
                </a:solidFill>
              </a:defRPr>
            </a:pPr>
            <a:r>
              <a:t>RESET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Return to default 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166360"/>
            <a:ext cx="10927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" y="5166360"/>
            <a:ext cx="64008" cy="749808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276088"/>
            <a:ext cx="106527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Key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23560"/>
            <a:ext cx="10634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D41"/>
                </a:solidFill>
              </a:defRPr>
            </a:pPr>
            <a:r>
              <a:t>• The dashboard converts complex ranking data into quick visual comparisons and decision-support views.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77D"/>
                </a:solidFill>
              </a:defRPr>
            </a:pPr>
            <a:r>
              <a:t>EduVision_DV • Higher Education Performance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1306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737360" cy="1737360"/>
          </a:xfrm>
          <a:prstGeom prst="ellipse">
            <a:avLst/>
          </a:prstGeom>
          <a:solidFill>
            <a:srgbClr val="E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45720"/>
            <a:ext cx="1143000" cy="1143000"/>
          </a:xfrm>
          <a:prstGeom prst="ellipse">
            <a:avLst/>
          </a:prstGeom>
          <a:solidFill>
            <a:srgbClr val="ED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11480" y="5897880"/>
            <a:ext cx="1280160" cy="1280160"/>
          </a:xfrm>
          <a:prstGeom prst="ellipse">
            <a:avLst/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9728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12. End-to-End Project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589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77D"/>
                </a:solidFill>
              </a:defRPr>
            </a:pPr>
            <a:r>
              <a:t>From raw ranking data to interactive education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1691640" cy="914400"/>
          </a:xfrm>
          <a:prstGeom prst="roundRect">
            <a:avLst/>
          </a:prstGeom>
          <a:solidFill>
            <a:srgbClr val="E2EDFC"/>
          </a:solidFill>
          <a:ln>
            <a:solidFill>
              <a:srgbClr val="26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1306C"/>
                </a:solidFill>
              </a:defRPr>
            </a:pPr>
            <a:r>
              <a:t>QS + THE Data</a:t>
            </a:r>
          </a:p>
        </p:txBody>
      </p:sp>
      <p:sp>
        <p:nvSpPr>
          <p:cNvPr id="11" name="Chevron 10"/>
          <p:cNvSpPr/>
          <p:nvPr/>
        </p:nvSpPr>
        <p:spPr>
          <a:xfrm>
            <a:off x="2240280" y="1810512"/>
            <a:ext cx="320040" cy="274320"/>
          </a:xfrm>
          <a:prstGeom prst="chevron">
            <a:avLst/>
          </a:prstGeom>
          <a:solidFill>
            <a:srgbClr val="D3D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60" y="1508760"/>
            <a:ext cx="1691640" cy="914400"/>
          </a:xfrm>
          <a:prstGeom prst="roundRect">
            <a:avLst/>
          </a:prstGeom>
          <a:solidFill>
            <a:srgbClr val="FDF1DB"/>
          </a:solidFill>
          <a:ln>
            <a:solidFill>
              <a:srgbClr val="F29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810512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1306C"/>
                </a:solidFill>
              </a:defRPr>
            </a:pPr>
            <a:r>
              <a:t>Cleaning</a:t>
            </a:r>
          </a:p>
        </p:txBody>
      </p:sp>
      <p:sp>
        <p:nvSpPr>
          <p:cNvPr id="14" name="Chevron 13"/>
          <p:cNvSpPr/>
          <p:nvPr/>
        </p:nvSpPr>
        <p:spPr>
          <a:xfrm>
            <a:off x="4160520" y="1810512"/>
            <a:ext cx="320040" cy="274320"/>
          </a:xfrm>
          <a:prstGeom prst="chevron">
            <a:avLst/>
          </a:prstGeom>
          <a:solidFill>
            <a:srgbClr val="D3D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1508760"/>
            <a:ext cx="1691640" cy="914400"/>
          </a:xfrm>
          <a:prstGeom prst="roundRect">
            <a:avLst/>
          </a:prstGeom>
          <a:solidFill>
            <a:srgbClr val="EDE7F8"/>
          </a:solidFill>
          <a:ln>
            <a:solidFill>
              <a:srgbClr val="896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810512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1306C"/>
                </a:solidFill>
              </a:defRPr>
            </a:pPr>
            <a:r>
              <a:t>Merging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6080759" y="1810512"/>
            <a:ext cx="320040" cy="274320"/>
          </a:xfrm>
          <a:prstGeom prst="chevron">
            <a:avLst/>
          </a:prstGeom>
          <a:solidFill>
            <a:srgbClr val="D3D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1508760"/>
            <a:ext cx="1691640" cy="914400"/>
          </a:xfrm>
          <a:prstGeom prst="roundRect">
            <a:avLst/>
          </a:prstGeom>
          <a:solidFill>
            <a:srgbClr val="E1F2EE"/>
          </a:solidFill>
          <a:ln>
            <a:solidFill>
              <a:srgbClr val="4B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1810512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1306C"/>
                </a:solidFill>
              </a:defRPr>
            </a:pPr>
            <a:r>
              <a:t>KPI Engineering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8001000" y="1810512"/>
            <a:ext cx="320040" cy="274320"/>
          </a:xfrm>
          <a:prstGeom prst="chevron">
            <a:avLst/>
          </a:prstGeom>
          <a:solidFill>
            <a:srgbClr val="D3D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79" y="1508760"/>
            <a:ext cx="1691640" cy="914400"/>
          </a:xfrm>
          <a:prstGeom prst="roundRect">
            <a:avLst/>
          </a:prstGeom>
          <a:solidFill>
            <a:srgbClr val="E2EDFC"/>
          </a:solidFill>
          <a:ln>
            <a:solidFill>
              <a:srgbClr val="26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810512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1306C"/>
                </a:solidFill>
              </a:defRPr>
            </a:pPr>
            <a:r>
              <a:t>Final Dataset</a:t>
            </a:r>
          </a:p>
        </p:txBody>
      </p:sp>
      <p:sp>
        <p:nvSpPr>
          <p:cNvPr id="23" name="Chevron 22"/>
          <p:cNvSpPr/>
          <p:nvPr/>
        </p:nvSpPr>
        <p:spPr>
          <a:xfrm>
            <a:off x="9921240" y="1810512"/>
            <a:ext cx="320040" cy="274320"/>
          </a:xfrm>
          <a:prstGeom prst="chevron">
            <a:avLst/>
          </a:prstGeom>
          <a:solidFill>
            <a:srgbClr val="D3D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04119" y="1508760"/>
            <a:ext cx="1691640" cy="914400"/>
          </a:xfrm>
          <a:prstGeom prst="roundRect">
            <a:avLst/>
          </a:prstGeom>
          <a:solidFill>
            <a:srgbClr val="EDE7F8"/>
          </a:solidFill>
          <a:ln>
            <a:solidFill>
              <a:srgbClr val="896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810512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1306C"/>
                </a:solidFill>
              </a:defRPr>
            </a:pPr>
            <a:r>
              <a:t>Tableau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0632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063240"/>
            <a:ext cx="64008" cy="1417320"/>
          </a:xfrm>
          <a:prstGeom prst="rect">
            <a:avLst/>
          </a:prstGeom>
          <a:solidFill>
            <a:srgbClr val="26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317296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Technology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520440"/>
            <a:ext cx="31363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D41"/>
                </a:solidFill>
              </a:defRPr>
            </a:pPr>
            <a:r>
              <a:t>• Python • Pandas • NumPy</a:t>
            </a:r>
          </a:p>
          <a:p>
            <a:pPr>
              <a:spcAft>
                <a:spcPts val="400"/>
              </a:spcAft>
              <a:defRPr sz="1300">
                <a:solidFill>
                  <a:srgbClr val="232D41"/>
                </a:solidFill>
              </a:defRPr>
            </a:pPr>
            <a:r>
              <a:t>• Excel • Tableau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0632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063240"/>
            <a:ext cx="64008" cy="1417320"/>
          </a:xfrm>
          <a:prstGeom prst="rect">
            <a:avLst/>
          </a:prstGeom>
          <a:solidFill>
            <a:srgbClr val="4B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17296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Main Outputs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520440"/>
            <a:ext cx="31363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D41"/>
                </a:solidFill>
              </a:defRPr>
            </a:pPr>
            <a:r>
              <a:t>• Clean dataset + engineered KPIs</a:t>
            </a:r>
          </a:p>
          <a:p>
            <a:pPr>
              <a:spcAft>
                <a:spcPts val="400"/>
              </a:spcAft>
              <a:defRPr sz="1300">
                <a:solidFill>
                  <a:srgbClr val="232D41"/>
                </a:solidFill>
              </a:defRPr>
            </a:pPr>
            <a:r>
              <a:t>• 4 interactive dashboards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0632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063240"/>
            <a:ext cx="64008" cy="1417320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17296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Analytics Areas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520440"/>
            <a:ext cx="31363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D41"/>
                </a:solidFill>
              </a:defRPr>
            </a:pPr>
            <a:r>
              <a:t>• Ranking • Research</a:t>
            </a:r>
          </a:p>
          <a:p>
            <a:pPr>
              <a:spcAft>
                <a:spcPts val="400"/>
              </a:spcAft>
              <a:defRPr sz="1300">
                <a:solidFill>
                  <a:srgbClr val="232D41"/>
                </a:solidFill>
              </a:defRPr>
            </a:pPr>
            <a:r>
              <a:t>• Students • Countries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892040"/>
            <a:ext cx="10927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892040"/>
            <a:ext cx="64008" cy="868680"/>
          </a:xfrm>
          <a:prstGeom prst="rect">
            <a:avLst/>
          </a:prstGeom>
          <a:solidFill>
            <a:srgbClr val="89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001768"/>
            <a:ext cx="106527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306C"/>
                </a:solidFill>
              </a:defRPr>
            </a:pPr>
            <a:r>
              <a:t>Project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" y="5349240"/>
            <a:ext cx="106344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32D41"/>
                </a:solidFill>
              </a:defRPr>
            </a:pPr>
            <a:r>
              <a:t>• A unified visual system for exploring global higher-education performance.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77D"/>
                </a:solidFill>
              </a:defRPr>
            </a:pPr>
            <a:r>
              <a:t>EduVision_DV • Higher Education Performance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1306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6484</Words>
  <Application>WPS Presentation</Application>
  <PresentationFormat>On-screen Show (4:3)</PresentationFormat>
  <Paragraphs>466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Mamidisetti Niharika</cp:lastModifiedBy>
  <cp:revision>3</cp:revision>
  <dcterms:created xsi:type="dcterms:W3CDTF">2013-01-27T09:14:00Z</dcterms:created>
  <dcterms:modified xsi:type="dcterms:W3CDTF">2026-09-16T09:49:38Z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A3DAA893D4EB4B2A8F2CFDCF37B10D2C_12</vt:lpwstr>
  </property>
</Properties>
</file>