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Noto Sans" panose="020B0502040504020204" pitchFamily="34" charset="0"/>
      <p:regular r:id="rId13"/>
      <p:italic r:id="rId14"/>
    </p:embeddedFont>
    <p:embeddedFont>
      <p:font typeface="Noto Sans Bold" panose="020B0802040504020204" charset="0"/>
      <p:regular r:id="rId15"/>
    </p:embeddedFont>
    <p:embeddedFont>
      <p:font typeface="Sora Medium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9706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53593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EDUVISION ANALYTICS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3504605"/>
            <a:ext cx="10868745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Higher Education Performance Dashboard</a:t>
            </a:r>
            <a:endParaRPr lang="en-US" sz="1450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450" i="1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Transforming University Ranking Data into Interactive Insights</a:t>
            </a:r>
            <a:endParaRPr lang="en-US" sz="14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BD441E-F9BC-F004-3E51-FD8AB3A90547}"/>
              </a:ext>
            </a:extLst>
          </p:cNvPr>
          <p:cNvSpPr/>
          <p:nvPr/>
        </p:nvSpPr>
        <p:spPr>
          <a:xfrm>
            <a:off x="11047445" y="6559420"/>
            <a:ext cx="1073020" cy="23326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877715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1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Project Introduction</a:t>
            </a:r>
            <a:endParaRPr lang="en-US" sz="3150" dirty="0"/>
          </a:p>
        </p:txBody>
      </p:sp>
      <p:sp>
        <p:nvSpPr>
          <p:cNvPr id="3" name="Shape 1"/>
          <p:cNvSpPr/>
          <p:nvPr/>
        </p:nvSpPr>
        <p:spPr>
          <a:xfrm>
            <a:off x="661475" y="2584549"/>
            <a:ext cx="5366112" cy="1129605"/>
          </a:xfrm>
          <a:prstGeom prst="roundRect">
            <a:avLst>
              <a:gd name="adj" fmla="val 2133"/>
            </a:avLst>
          </a:prstGeom>
          <a:solidFill>
            <a:srgbClr val="2626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822106" y="2745184"/>
            <a:ext cx="504485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Complex Data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106" y="3078063"/>
            <a:ext cx="504485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3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University ranking datasets contain many performance indicators that are difficult to interpret manually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164108" y="2584549"/>
            <a:ext cx="5366112" cy="1129605"/>
          </a:xfrm>
          <a:prstGeom prst="roundRect">
            <a:avLst>
              <a:gd name="adj" fmla="val 2133"/>
            </a:avLst>
          </a:prstGeom>
          <a:solidFill>
            <a:srgbClr val="2626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324739" y="2745184"/>
            <a:ext cx="504485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Dual Sources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324739" y="3078063"/>
            <a:ext cx="504485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3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project combines both QS and THE ranking datasets into a unified analytical framework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1475" y="3850680"/>
            <a:ext cx="5366112" cy="1129605"/>
          </a:xfrm>
          <a:prstGeom prst="roundRect">
            <a:avLst>
              <a:gd name="adj" fmla="val 2133"/>
            </a:avLst>
          </a:prstGeom>
          <a:solidFill>
            <a:srgbClr val="2626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22106" y="4011315"/>
            <a:ext cx="504485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Visual Insights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22106" y="4344194"/>
            <a:ext cx="504485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3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Tableau converts complex data into interactive visual insights for easy exploration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64108" y="3850680"/>
            <a:ext cx="5366112" cy="1129605"/>
          </a:xfrm>
          <a:prstGeom prst="roundRect">
            <a:avLst>
              <a:gd name="adj" fmla="val 2133"/>
            </a:avLst>
          </a:prstGeom>
          <a:solidFill>
            <a:srgbClr val="2626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324739" y="4011315"/>
            <a:ext cx="5044850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Comparison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324739" y="4344194"/>
            <a:ext cx="5044850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3000"/>
              </a:lnSpc>
              <a:buNone/>
            </a:pPr>
            <a:r>
              <a:rPr lang="en-US" sz="12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Enables meaningful comparison of universities and countries across multiple indicators</a:t>
            </a:r>
            <a:endParaRPr lang="en-US" sz="12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78DBD1E-8023-40BF-1959-44E7626273AF}"/>
              </a:ext>
            </a:extLst>
          </p:cNvPr>
          <p:cNvSpPr/>
          <p:nvPr/>
        </p:nvSpPr>
        <p:spPr>
          <a:xfrm>
            <a:off x="11028784" y="6550090"/>
            <a:ext cx="1082351" cy="2425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91829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Problem &amp; Objective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525350" y="2792413"/>
            <a:ext cx="5476043" cy="2147292"/>
          </a:xfrm>
          <a:prstGeom prst="roundRect">
            <a:avLst>
              <a:gd name="adj" fmla="val 1320"/>
            </a:avLst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14357" y="2981424"/>
            <a:ext cx="509802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Problem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714357" y="3465711"/>
            <a:ext cx="5098029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Large and complex ranking datasets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Difficult manual comparison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Multiple indicators across datasets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Difficult to identify patterns quickly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332776" y="2981424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Objective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332776" y="3465711"/>
            <a:ext cx="5203794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Analyze university performance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Compare universities and countries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Understand research and student metrics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Create interactive visual insights</a:t>
            </a:r>
            <a:endParaRPr lang="en-US" sz="14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032D83-C840-08D3-E199-8C16C57E1F7A}"/>
              </a:ext>
            </a:extLst>
          </p:cNvPr>
          <p:cNvSpPr/>
          <p:nvPr/>
        </p:nvSpPr>
        <p:spPr>
          <a:xfrm>
            <a:off x="11038114" y="6559420"/>
            <a:ext cx="1082351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197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Data Processing Workflow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500" y="1530648"/>
            <a:ext cx="10520595" cy="39479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36045" y="4367325"/>
            <a:ext cx="1586822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Numeric Convert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7336215" y="4367325"/>
            <a:ext cx="1586822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Missing Values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347253" y="4520169"/>
            <a:ext cx="1586822" cy="305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Cleaning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3358291" y="4520169"/>
            <a:ext cx="1586822" cy="305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Integration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325854" y="4520169"/>
            <a:ext cx="1586822" cy="3056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Collection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661475" y="5691188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Raw ranking data from QS and THE sources is systematically processed through eight stages before being visualized in Tableau interactive dashboards.</a:t>
            </a:r>
            <a:endParaRPr lang="en-US" sz="14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7452E7-EE9C-2523-BDAD-CC194CEE0902}"/>
              </a:ext>
            </a:extLst>
          </p:cNvPr>
          <p:cNvSpPr/>
          <p:nvPr/>
        </p:nvSpPr>
        <p:spPr>
          <a:xfrm>
            <a:off x="11028784" y="6568751"/>
            <a:ext cx="1082351" cy="20527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8959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 Dashboard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76338"/>
            <a:ext cx="6903269" cy="37793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32251" y="2221706"/>
            <a:ext cx="3504219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E0D6DE"/>
                </a:solidFill>
                <a:latin typeface="Noto Sans Bold" pitchFamily="34" charset="0"/>
                <a:ea typeface="Noto Sans Bold" pitchFamily="34" charset="-122"/>
                <a:cs typeface="Noto Sans Bold" pitchFamily="34" charset="-120"/>
              </a:rPr>
              <a:t>Provides an overall view of university performance using key ranking indicators. It summarizes total universities, overall score, global ranking and country-level performance.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8032251" y="4206280"/>
            <a:ext cx="3504219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Overall performance summary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Key ranking indicators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Country-level comparison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Main navigation dashboard</a:t>
            </a:r>
            <a:endParaRPr lang="en-US" sz="14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0D489A-58B3-FD75-5DFB-3894E29CEB79}"/>
              </a:ext>
            </a:extLst>
          </p:cNvPr>
          <p:cNvSpPr/>
          <p:nvPr/>
        </p:nvSpPr>
        <p:spPr>
          <a:xfrm>
            <a:off x="11028784" y="6531429"/>
            <a:ext cx="1091681" cy="24259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8284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University Analytics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69591"/>
            <a:ext cx="6903269" cy="37928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32251" y="2339876"/>
            <a:ext cx="3504219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E0D6DE"/>
                </a:solidFill>
                <a:latin typeface="Noto Sans Bold" pitchFamily="34" charset="0"/>
                <a:ea typeface="Noto Sans Bold" pitchFamily="34" charset="-122"/>
                <a:cs typeface="Noto Sans Bold" pitchFamily="34" charset="-120"/>
              </a:rPr>
              <a:t>Focuses on university-level performance and comparison using academic, citation, employer and overall performance indicators.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8032251" y="3719612"/>
            <a:ext cx="3504219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Top university comparison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Academic reputation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Citation performance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Employer reputation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Performance tiers</a:t>
            </a:r>
            <a:endParaRPr lang="en-US" sz="1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719473-7494-7D3B-5269-5C285DC28053}"/>
              </a:ext>
            </a:extLst>
          </p:cNvPr>
          <p:cNvSpPr/>
          <p:nvPr/>
        </p:nvSpPr>
        <p:spPr>
          <a:xfrm>
            <a:off x="11019453" y="6540759"/>
            <a:ext cx="1101012" cy="27058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9594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Research Analytics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82688"/>
            <a:ext cx="6903269" cy="37667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32251" y="2491184"/>
            <a:ext cx="350421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E0D6DE"/>
                </a:solidFill>
                <a:latin typeface="Noto Sans Bold" pitchFamily="34" charset="0"/>
                <a:ea typeface="Noto Sans Bold" pitchFamily="34" charset="-122"/>
                <a:cs typeface="Noto Sans Bold" pitchFamily="34" charset="-120"/>
              </a:rPr>
              <a:t>Analyzes research strength and research-related indicators across universities and countries.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8032251" y="3568502"/>
            <a:ext cx="3504219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Research performance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Research leaders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Citation analysis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Research productivity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International research network</a:t>
            </a:r>
            <a:endParaRPr lang="en-US" sz="1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96DA0E-DC8E-DA78-4683-FD15E7F387FD}"/>
              </a:ext>
            </a:extLst>
          </p:cNvPr>
          <p:cNvSpPr/>
          <p:nvPr/>
        </p:nvSpPr>
        <p:spPr>
          <a:xfrm>
            <a:off x="11010122" y="6568751"/>
            <a:ext cx="1101013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8909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Student Analytics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75842"/>
            <a:ext cx="6903269" cy="378033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32251" y="2339876"/>
            <a:ext cx="3504219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E0D6DE"/>
                </a:solidFill>
                <a:latin typeface="Noto Sans Bold" pitchFamily="34" charset="0"/>
                <a:ea typeface="Noto Sans Bold" pitchFamily="34" charset="-122"/>
                <a:cs typeface="Noto Sans Bold" pitchFamily="34" charset="-120"/>
              </a:rPr>
              <a:t>Analyzes student-focused indicators such as student experience, teaching strength and international student reach.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8032251" y="3719612"/>
            <a:ext cx="3504219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Student experience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Teaching strength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Global reach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Student reach analysis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International student indicators</a:t>
            </a:r>
            <a:endParaRPr lang="en-US" sz="14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7A301C-2320-99E1-8C49-54B070BA576D}"/>
              </a:ext>
            </a:extLst>
          </p:cNvPr>
          <p:cNvSpPr/>
          <p:nvPr/>
        </p:nvSpPr>
        <p:spPr>
          <a:xfrm>
            <a:off x="11056776" y="6559420"/>
            <a:ext cx="1054359" cy="2146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9445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Country Comparison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81200"/>
            <a:ext cx="6903269" cy="376971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32251" y="2188766"/>
            <a:ext cx="3504219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E0D6DE"/>
                </a:solidFill>
                <a:latin typeface="Noto Sans Bold" pitchFamily="34" charset="0"/>
                <a:ea typeface="Noto Sans Bold" pitchFamily="34" charset="-122"/>
                <a:cs typeface="Noto Sans Bold" pitchFamily="34" charset="-120"/>
              </a:rPr>
              <a:t>Compares higher-education performance across countries using academic, faculty, global outlook, employment and sustainability indicators.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8032251" y="3870920"/>
            <a:ext cx="3504219" cy="1776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Academic standing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Faculty balance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Global outlook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Employment success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E0D6D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Sustainability comparison</a:t>
            </a:r>
            <a:endParaRPr lang="en-US" sz="1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00DC2-F783-8A5A-8DEF-6C42C20D5C04}"/>
              </a:ext>
            </a:extLst>
          </p:cNvPr>
          <p:cNvSpPr/>
          <p:nvPr/>
        </p:nvSpPr>
        <p:spPr>
          <a:xfrm>
            <a:off x="11056776" y="6522098"/>
            <a:ext cx="1063689" cy="2519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58435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Thank You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3458468"/>
            <a:ext cx="10868745" cy="815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51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Questions &amp; Answers</a:t>
            </a:r>
            <a:endParaRPr lang="en-US" sz="51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B20D4B-DEE8-48B0-F717-9EC0B57225D0}"/>
              </a:ext>
            </a:extLst>
          </p:cNvPr>
          <p:cNvSpPr/>
          <p:nvPr/>
        </p:nvSpPr>
        <p:spPr>
          <a:xfrm>
            <a:off x="11010122" y="6550090"/>
            <a:ext cx="1110343" cy="2425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307</Words>
  <Application>Microsoft Office PowerPoint</Application>
  <PresentationFormat>Widescreen</PresentationFormat>
  <Paragraphs>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Noto Sans</vt:lpstr>
      <vt:lpstr>Arial</vt:lpstr>
      <vt:lpstr>Noto Sans Bold</vt:lpstr>
      <vt:lpstr>Sora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UnniKrishnan Ravichandran</dc:creator>
  <cp:lastModifiedBy>UnniKrishnan Ravichandran</cp:lastModifiedBy>
  <cp:revision>3</cp:revision>
  <dcterms:created xsi:type="dcterms:W3CDTF">2026-09-15T17:07:01Z</dcterms:created>
  <dcterms:modified xsi:type="dcterms:W3CDTF">2026-09-15T19:31:06Z</dcterms:modified>
</cp:coreProperties>
</file>